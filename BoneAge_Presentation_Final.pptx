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72" r:id="rId6"/>
    <p:sldId id="273" r:id="rId7"/>
    <p:sldId id="293" r:id="rId8"/>
    <p:sldId id="260" r:id="rId9"/>
    <p:sldId id="261" r:id="rId10"/>
    <p:sldId id="274" r:id="rId11"/>
    <p:sldId id="262" r:id="rId12"/>
    <p:sldId id="275" r:id="rId13"/>
    <p:sldId id="276" r:id="rId14"/>
    <p:sldId id="277" r:id="rId15"/>
    <p:sldId id="286" r:id="rId16"/>
    <p:sldId id="278" r:id="rId17"/>
    <p:sldId id="263" r:id="rId18"/>
    <p:sldId id="264" r:id="rId19"/>
    <p:sldId id="282" r:id="rId20"/>
    <p:sldId id="281" r:id="rId21"/>
    <p:sldId id="285" r:id="rId22"/>
    <p:sldId id="280" r:id="rId23"/>
    <p:sldId id="279" r:id="rId24"/>
    <p:sldId id="283" r:id="rId25"/>
    <p:sldId id="284" r:id="rId26"/>
    <p:sldId id="265" r:id="rId27"/>
    <p:sldId id="289" r:id="rId28"/>
    <p:sldId id="290" r:id="rId29"/>
    <p:sldId id="291" r:id="rId30"/>
    <p:sldId id="292" r:id="rId31"/>
    <p:sldId id="287" r:id="rId32"/>
    <p:sldId id="288" r:id="rId33"/>
    <p:sldId id="266" r:id="rId34"/>
    <p:sldId id="267" r:id="rId35"/>
    <p:sldId id="296" r:id="rId36"/>
    <p:sldId id="294" r:id="rId37"/>
    <p:sldId id="295" r:id="rId38"/>
    <p:sldId id="268" r:id="rId39"/>
    <p:sldId id="269" r:id="rId40"/>
    <p:sldId id="270" r:id="rId41"/>
    <p:sldId id="271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38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7315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04672"/>
            <a:ext cx="338328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" y="3017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182880" y="3611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Graduate School &amp; Research Center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Digital Science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82880" y="4818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in Computer Science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Science Track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0" y="8229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Pediatric Bone Age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Estimation</a:t>
            </a:r>
            <a:endParaRPr lang="en-US" sz="4600" dirty="0"/>
          </a:p>
        </p:txBody>
      </p:sp>
      <p:sp>
        <p:nvSpPr>
          <p:cNvPr id="14" name="Shape 10"/>
          <p:cNvSpPr/>
          <p:nvPr/>
        </p:nvSpPr>
        <p:spPr>
          <a:xfrm>
            <a:off x="4572000" y="3246120"/>
            <a:ext cx="7132320" cy="54864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33832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CNNs &amp; Transfer Learning</a:t>
            </a:r>
            <a:endParaRPr lang="en-US" sz="1900" b="1" dirty="0"/>
          </a:p>
          <a:p>
            <a:pPr marL="0" indent="0">
              <a:buNone/>
            </a:pPr>
            <a:r>
              <a:rPr lang="en-US" sz="1900" b="1" i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RSNA Hand Radiographs</a:t>
            </a:r>
            <a:endParaRPr lang="en-US" sz="1900" b="1" dirty="0"/>
          </a:p>
        </p:txBody>
      </p:sp>
      <p:sp>
        <p:nvSpPr>
          <p:cNvPr id="16" name="Text 12"/>
          <p:cNvSpPr/>
          <p:nvPr/>
        </p:nvSpPr>
        <p:spPr>
          <a:xfrm>
            <a:off x="4572000" y="4343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Sravan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Kumar </a:t>
            </a:r>
            <a:r>
              <a:rPr lang="en-US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Challagiri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38160" y="43434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Hafiz Muhammad Umer Farooq Mirza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0" y="48188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Nayoneeka Paul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8138160" y="481888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Adhitya Kiran Kanakaraj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572000" y="5897880"/>
            <a:ext cx="7132320" cy="384048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0" y="59070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 ·  Medical Imaging  ·  Transfer Learning  ·  EfficientNetV2-RW-S</a:t>
            </a:r>
            <a:endParaRPr lang="en-US" sz="11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cover today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170992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16733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71600" y="21488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bone age estimation matters in clinical medicine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160020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160020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70992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23760" y="16733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&amp; Pre-Processing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23760" y="21488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RSNA 12,600 hand radiographs — preparation pipeline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10896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321868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218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371600" y="31821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Architecture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371600" y="36576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Simple CNN to EfficientNetV2-RW-S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309360" y="310896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309360" y="310896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46520" y="321868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46520" y="32186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23760" y="31821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&amp; Comparison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223760" y="36576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 scores, error distributions, model ranking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461772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7200" y="461772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472744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727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371600" y="46908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Explainability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371600" y="51663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model actually looks at in the X-ray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309360" y="4617720"/>
            <a:ext cx="55778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309360" y="4617720"/>
            <a:ext cx="73152" cy="13258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46520" y="472744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46520" y="47274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223760" y="46908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 &amp; Future Work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7223760" y="51663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Takeaways and next research directions</a:t>
            </a:r>
            <a:endParaRPr lang="en-US" sz="13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13716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FFFFF">
                    <a:alpha val="2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000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6858000" cy="6400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8288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663440" y="2926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need &amp; how AI transforms it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Problem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skeletal maturity from pediatric hand X-rays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56816" y="1737360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56816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1792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Need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1792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 assessment is a critical diagnostic test for evaluating skeletal maturity — identifying growth disorders, hormonal imbalances, and developmental conditions in children.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Problem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skeletal maturity from pediatric hand X-rays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56816" y="1737360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56816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1792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Need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1792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 assessment is a critical diagnostic test for evaluating skeletal maturity — identifying growth disorders, hormonal imbalances, and developmental conditions in children.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370832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600200"/>
            <a:ext cx="3657600" cy="9144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70448" y="1737360"/>
            <a:ext cx="658368" cy="658368"/>
          </a:xfrm>
          <a:prstGeom prst="ellipse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35424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Limitations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35424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Greulich-Pyle (GP) and Tanner-Whitehouse (TW2) methods rely on manual visual comparison with reference atlases — subjective, time-consuming, and radiologist-dependent.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Problem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skeletal maturity from pediatric hand X-rays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56816" y="1737360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56816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1792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Need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1792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 assessment is a critical diagnostic test for evaluating skeletal maturity — identifying growth disorders, hormonal imbalances, and developmental conditions in children.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370832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600200"/>
            <a:ext cx="3657600" cy="9144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70448" y="1737360"/>
            <a:ext cx="658368" cy="658368"/>
          </a:xfrm>
          <a:prstGeom prst="ellipse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35424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Limitations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35424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Greulich-Pyle (GP) and Tanner-Whitehouse (TW2) methods rely on manual visual comparison with reference atlases — subjective, time-consuming, and radiologist-dependent.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8284464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84464" y="1600200"/>
            <a:ext cx="3657600" cy="9144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84080" y="1737360"/>
            <a:ext cx="658368" cy="658368"/>
          </a:xfrm>
          <a:prstGeom prst="ellipse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84080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449056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Opportunity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8449056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CNNs learn discriminative bone features directly from raw pixels — delivering automated, consistent, and scalable assessment without manual feature engineering.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Problem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skeletal maturity from pediatric hand X-rays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00200"/>
            <a:ext cx="3657600" cy="9144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56816" y="1737360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56816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1792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Need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1792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 assessment is a critical diagnostic test for evaluating skeletal maturity — identifying growth disorders, hormonal imbalances, and developmental conditions in children.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370832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600200"/>
            <a:ext cx="3657600" cy="9144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70448" y="1737360"/>
            <a:ext cx="658368" cy="658368"/>
          </a:xfrm>
          <a:prstGeom prst="ellipse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35424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Limitations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35424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Greulich-Pyle (GP) and Tanner-Whitehouse (TW2) methods rely on manual visual comparison with reference atlases — subjective, time-consuming, and radiologist-dependent.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8284464" y="1600200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84464" y="1600200"/>
            <a:ext cx="3657600" cy="9144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84080" y="1737360"/>
            <a:ext cx="658368" cy="658368"/>
          </a:xfrm>
          <a:prstGeom prst="ellipse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84080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449056" y="25146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Opportunity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8449056" y="3127248"/>
            <a:ext cx="333756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CNNs learn discriminative bone features directly from raw pixels — delivering automated, consistent, and scalable assessment without manual feature engineering.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57200" y="5925312"/>
            <a:ext cx="11247120" cy="566928"/>
          </a:xfrm>
          <a:prstGeom prst="rect">
            <a:avLst/>
          </a:prstGeom>
          <a:solidFill>
            <a:srgbClr val="F0F8FC"/>
          </a:solidFill>
          <a:ln w="15240">
            <a:solidFill>
              <a:srgbClr val="239CD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5952744"/>
            <a:ext cx="10972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  Goal: Build a CNN model that accurately estimates bone age from hand X-rays and explains which anatomical regions drive predictions.</a:t>
            </a:r>
            <a:endParaRPr lang="en-US" sz="14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13716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FFFFF">
                    <a:alpha val="2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000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6858000" cy="6400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371601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Pre-Processing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663440" y="2926079"/>
            <a:ext cx="7132320" cy="105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RSNA Bone Age Challenge — 12,600 labeled hand radiographs</a:t>
            </a:r>
            <a:endParaRPr lang="en-US" sz="20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RSNA Bone Age Dataset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data: 12,600 pediatric left-hand X-rays with bone age (months) + gender labels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173736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12,600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Labeled X-ray Images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Left-hand pediatric radiographs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0832" y="1600200"/>
            <a:ext cx="3657600" cy="173736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70832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 / 15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370832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/ Validation Split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70832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Stratified by gender for balance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84464" y="1600200"/>
            <a:ext cx="3657600" cy="173736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84464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– 228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8284464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Range (months)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84464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concentration: 50–150 months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RSNA Bone Age Dataset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data: 12,600 pediatric left-hand X-rays with bone age (months) + gender labels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657600" cy="173736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12,600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Labeled X-ray Images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Left-hand pediatric radiographs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0832" y="1600200"/>
            <a:ext cx="3657600" cy="173736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70832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 / 15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4370832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/ Validation Split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70832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Stratified by gender for balance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84464" y="1600200"/>
            <a:ext cx="3657600" cy="173736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84464" y="16642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– 228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8284464" y="24871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 Range (months)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84464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82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Peak concentration: 50–150 months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52044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4360" y="35935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 Distribution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85800" y="4114800"/>
            <a:ext cx="1280160" cy="1371600"/>
          </a:xfrm>
          <a:prstGeom prst="rect">
            <a:avLst/>
          </a:prstGeom>
          <a:solidFill>
            <a:srgbClr val="4DB8E0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5532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5,778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240280" y="3931920"/>
            <a:ext cx="1280160" cy="155448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40280" y="5532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6,833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No significant gender imbalance</a:t>
            </a:r>
            <a:endParaRPr lang="en-US" sz="1100" b="1" dirty="0"/>
          </a:p>
        </p:txBody>
      </p:sp>
      <p:sp>
        <p:nvSpPr>
          <p:cNvPr id="28" name="Shape 25"/>
          <p:cNvSpPr/>
          <p:nvPr/>
        </p:nvSpPr>
        <p:spPr>
          <a:xfrm>
            <a:off x="4370832" y="3520440"/>
            <a:ext cx="7269480" cy="2423160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26280" y="359359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Dataset Characteristics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26280" y="40965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Left-hand radiographs only — consistent anatomical view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26280" y="446227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Non-uniform age distribution — concentrated in 50–150 months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26280" y="482803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few samples at extremes (&lt;24 mo. or &gt;200 mo.) — expect higher MAE there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26280" y="519379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Labels in a separate CSV matched by image ID number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26280" y="555955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 engineering NOT used — CNNs learn representations automatically</a:t>
            </a:r>
            <a:endParaRPr lang="en-US" sz="14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296144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74352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Biological sex encoded as a learned vector — concatenated with image features before prediction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70048" y="1572768"/>
            <a:ext cx="2084832" cy="324612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296144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70048" y="1572768"/>
            <a:ext cx="2084832" cy="324612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73168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74336" y="1572768"/>
            <a:ext cx="2084832" cy="324612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E7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91856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74352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Biological sex encoded as a learned vector — concatenated with image features before prediction</a:t>
            </a:r>
            <a:endParaRPr lang="en-US" sz="14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70048" y="1572768"/>
            <a:ext cx="2084832" cy="324612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73168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74336" y="1572768"/>
            <a:ext cx="2084832" cy="324612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E7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077456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78624" y="1572768"/>
            <a:ext cx="2084832" cy="324612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91856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185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74352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Biological sex encoded as a learned vector — concatenated with image features before prediction</a:t>
            </a:r>
            <a:endParaRPr lang="en-US" sz="14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70048" y="1572768"/>
            <a:ext cx="2084832" cy="324612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73168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74336" y="1572768"/>
            <a:ext cx="2084832" cy="324612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E7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077456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78624" y="1572768"/>
            <a:ext cx="2084832" cy="324612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91856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185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81744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582912" y="1572768"/>
            <a:ext cx="2084832" cy="3246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296144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96144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74352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Biological sex encoded as a learned vector — concatenated with image features before prediction</a:t>
            </a:r>
            <a:endParaRPr lang="en-US" sz="14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Pre-Processing Pipeline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preparation applied across all CNN architectures</a:t>
            </a:r>
            <a:endParaRPr lang="en-US" sz="16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2084832" cy="32461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78992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8912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RGB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X-rays converted to 3-channel RGB — required for ImageNet-pretrained model compatibility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68880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670048" y="1572768"/>
            <a:ext cx="2084832" cy="324612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743200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761488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input resolution captures fine bone growth-plate detail that smaller sizes miss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73168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74336" y="1572768"/>
            <a:ext cx="2084832" cy="324612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87568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E7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047488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065776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horizontal flip &amp; rotation applied to training images — prevents overfitting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077456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278624" y="1572768"/>
            <a:ext cx="2084832" cy="324612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991856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1856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351776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370064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Mean/std from ImageNet pretraining applied to match transfer-learning model expectations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381744" y="304495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582912" y="1572768"/>
            <a:ext cx="2084832" cy="3246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10296144" y="169164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96144" y="16916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656064" y="2487168"/>
            <a:ext cx="19385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74352" y="324612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Biological sex encoded as a learned vector — concatenated with image features before prediction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65760" y="5010912"/>
            <a:ext cx="11338560" cy="1225296"/>
          </a:xfrm>
          <a:prstGeom prst="rect">
            <a:avLst/>
          </a:prstGeom>
          <a:solidFill>
            <a:srgbClr val="F0F8FC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5074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Sizes by Architecture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48640" y="546811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CNN:  </a:t>
            </a:r>
            <a:r>
              <a:rPr lang="en-US" sz="1250" b="1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128 × 128 px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54864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 (baseline):  </a:t>
            </a:r>
            <a:r>
              <a:rPr lang="en-US" sz="125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 × 224 px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548640" y="598017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/ V2-RW-S / SEResNeXt101:  </a:t>
            </a:r>
            <a:r>
              <a:rPr lang="en-US" sz="125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 × 384 px  ← best performance</a:t>
            </a:r>
            <a:endParaRPr lang="en-US" sz="125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13716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FFFFF">
                    <a:alpha val="2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000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6858000" cy="6400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667435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663440" y="2926080"/>
            <a:ext cx="7132320" cy="879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Simple CNN baseline to state-of-the-art EfficientNetV2-RW-S</a:t>
            </a:r>
            <a:endParaRPr lang="en-US" sz="2000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(224 px)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89157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11.21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  <p:sp>
        <p:nvSpPr>
          <p:cNvPr id="35" name="Shape 16"/>
          <p:cNvSpPr/>
          <p:nvPr/>
        </p:nvSpPr>
        <p:spPr>
          <a:xfrm>
            <a:off x="4297680" y="3666744"/>
            <a:ext cx="1981749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(224 px)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97680" y="3666744"/>
            <a:ext cx="1981749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9157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11.21 mo.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793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SEResNeXt101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4325112"/>
            <a:ext cx="1341791" cy="438912"/>
          </a:xfrm>
          <a:prstGeom prst="rect">
            <a:avLst/>
          </a:prstGeom>
          <a:solidFill>
            <a:srgbClr val="4DB8E0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9199" y="432511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7.59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(224 px)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97680" y="3666744"/>
            <a:ext cx="1981749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9157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11.21 mo.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793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SEResNeXt101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4325112"/>
            <a:ext cx="1341791" cy="438912"/>
          </a:xfrm>
          <a:prstGeom prst="rect">
            <a:avLst/>
          </a:prstGeom>
          <a:solidFill>
            <a:srgbClr val="4DB8E0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9199" y="432511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7.59 mo.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9377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(384 px)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97680" y="4983480"/>
            <a:ext cx="1238018" cy="438912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5426" y="4983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7.003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(224 px)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97680" y="3666744"/>
            <a:ext cx="1981749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9157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11.21 mo.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793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SEResNeXt101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4325112"/>
            <a:ext cx="1341791" cy="438912"/>
          </a:xfrm>
          <a:prstGeom prst="rect">
            <a:avLst/>
          </a:prstGeom>
          <a:solidFill>
            <a:srgbClr val="4DB8E0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9199" y="432511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7.59 mo.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9377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(384 px)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97680" y="4983480"/>
            <a:ext cx="1238018" cy="438912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5426" y="4983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7.003 mo.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5596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EfficientNetV2-RW-S  ★  BEST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297680" y="5641848"/>
            <a:ext cx="1200010" cy="438912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07418" y="5641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6.788 mo.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Progression — MAE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Absolute Error in months (lower = better). All models tested on the same 85/15 split.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457200" y="16459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 CNN (baseline)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4914595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2003" y="169164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mo.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23042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ResNet-50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97680" y="2350008"/>
            <a:ext cx="2298192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5600" y="2350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mo.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9626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3008376"/>
            <a:ext cx="2004731" cy="43891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2139" y="30083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C4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11.34 mo.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362102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(224 px)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97680" y="3666744"/>
            <a:ext cx="1981749" cy="43891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9157" y="36667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C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11.21 mo.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27939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SEResNeXt101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297680" y="4325112"/>
            <a:ext cx="1341791" cy="438912"/>
          </a:xfrm>
          <a:prstGeom prst="rect">
            <a:avLst/>
          </a:prstGeom>
          <a:solidFill>
            <a:srgbClr val="4DB8E0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9199" y="432511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B8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7.59 mo.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93776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EfficientNet-B4  (384 px)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297680" y="4983480"/>
            <a:ext cx="1238018" cy="438912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45426" y="498348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7.003 mo.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7200" y="559612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EfficientNetV2-RW-S  ★  BEST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297680" y="5641848"/>
            <a:ext cx="1200010" cy="438912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07418" y="564184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6.788 mo.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241280" y="1572768"/>
            <a:ext cx="1764792" cy="4608576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241280" y="2286000"/>
            <a:ext cx="176479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76%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241280" y="4572000"/>
            <a:ext cx="1764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27.8 → 6.8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297680" y="6327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lower is better</a:t>
            </a:r>
            <a:endParaRPr lang="en-US" sz="10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572768"/>
            <a:ext cx="1719072" cy="1572768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572768"/>
            <a:ext cx="1719072" cy="1572768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572768"/>
            <a:ext cx="1719072" cy="1572768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(Concat)</a:t>
            </a:r>
            <a:endParaRPr lang="en-US" sz="13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572768"/>
            <a:ext cx="1719072" cy="1572768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572768"/>
            <a:ext cx="1719072" cy="1572768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(Concat)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4672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4672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</a:t>
            </a:r>
            <a:endParaRPr lang="en-US" sz="13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572768"/>
            <a:ext cx="1719072" cy="1572768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572768"/>
            <a:ext cx="1719072" cy="1572768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(Concat)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4672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4672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78408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66960" y="1572768"/>
            <a:ext cx="1719072" cy="1572768"/>
          </a:xfrm>
          <a:prstGeom prst="rect">
            <a:avLst/>
          </a:prstGeom>
          <a:solidFill>
            <a:srgbClr val="1D8A48"/>
          </a:solidFill>
          <a:ln w="12700">
            <a:solidFill>
              <a:srgbClr val="1D8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9669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(months)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5760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5760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6.792 mo.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365760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During training epochs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65760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Validation MAE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319272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319272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6.788 mo.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3319272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held-out validation set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319272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Evaluation MAE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272784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D8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272784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8A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−0.385 mo.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6272784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Near-zero systematic bias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272784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Error (Pred−Actual)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226296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226296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9.469 mo.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9226296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 spread around zero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226296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Std. Deviation of Error</a:t>
            </a:r>
            <a:endParaRPr lang="en-US" sz="13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Model: EfficientNetV2-RW-S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flow, performance metrics, and why it outperforms all others</a:t>
            </a:r>
            <a:endParaRPr lang="en-US" sz="1500" b="1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RGB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286000" y="1572768"/>
            <a:ext cx="1719072" cy="1572768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28600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EfficientNetV2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Backbone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(ImageNet)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572768"/>
            <a:ext cx="1719072" cy="1572768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572768"/>
            <a:ext cx="1719072" cy="1572768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(Concat)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046720" y="1572768"/>
            <a:ext cx="1719072" cy="157276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4672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784080" y="2267712"/>
            <a:ext cx="164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▶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66960" y="1572768"/>
            <a:ext cx="1719072" cy="1572768"/>
          </a:xfrm>
          <a:prstGeom prst="rect">
            <a:avLst/>
          </a:prstGeom>
          <a:solidFill>
            <a:srgbClr val="1D8A48"/>
          </a:solidFill>
          <a:ln w="12700">
            <a:solidFill>
              <a:srgbClr val="1D8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966960" y="1600200"/>
            <a:ext cx="1719072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(months)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5760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5760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6.792 mo.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365760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During training epochs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65760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Validation MAE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319272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319272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6.788 mo.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3319272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held-out validation set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319272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Evaluation MAE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272784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D8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272784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8A4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−0.385 mo.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6272784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Near-zero systematic bias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272784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 Error (Pred−Actual)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226296" y="3337560"/>
            <a:ext cx="2788920" cy="1719072"/>
          </a:xfrm>
          <a:prstGeom prst="rect">
            <a:avLst/>
          </a:prstGeom>
          <a:solidFill>
            <a:srgbClr val="FFFFFF"/>
          </a:solidFill>
          <a:ln w="254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226296" y="3429000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9.469 mo.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9226296" y="418795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 spread around zero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9226296" y="44805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Std. Deviation of Error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65760" y="5212080"/>
            <a:ext cx="11612880" cy="987552"/>
          </a:xfrm>
          <a:prstGeom prst="rect">
            <a:avLst/>
          </a:prstGeom>
          <a:solidFill>
            <a:srgbClr val="F0F8FC"/>
          </a:solidFill>
          <a:ln w="12700">
            <a:solidFill>
              <a:srgbClr val="4DB8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0352" y="5266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EfficientNetV2-RW-S Wins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30352" y="5669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Fused MBConv blocks → faster training &amp; better generalisation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530352" y="5943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384×384 input → captures fine bone growth-plate detail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6309360" y="5669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 embedding → adds essential biological context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6309360" y="5943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</a:t>
            </a:r>
            <a:r>
              <a:rPr lang="en-US" sz="12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ImageNet weights → powerful visual features from day one</a:t>
            </a:r>
            <a:endParaRPr lang="en-US" sz="125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Model Comparison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All 7 architectures ranked by validation MAE — winner row highlighted</a:t>
            </a:r>
            <a:endParaRPr lang="en-US" sz="1500" b="1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940526" y="1600200"/>
          <a:ext cx="10515600" cy="4681728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1645920"/>
                <a:gridCol w="1645920"/>
                <a:gridCol w="1371600"/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Architecture Type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Best Val MAE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Final Val MAE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vs Baseline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1A1A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Simple CNN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Custom (from scratch)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27.8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27.8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3A3A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ResNet-50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Learning + Gender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~12–13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~13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−53%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4444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EfficientNet-B0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E4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 (224 px)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E4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11.34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E4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~11.3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E4E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−59%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4E4E4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EfficientNet-B4 (224px)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 fine-tuned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11.41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11.21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5858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−60%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5858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EfficientNet-B4 (384px)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High-Res EfficientNet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7.006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7.003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−75%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0606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SEResNeXt101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 + Grouped Convolution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7.586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7.956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−73%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68686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EfficientNetV2-RW-S  ★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239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EfficientNetV2 + Gender Embed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239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6.792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239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6.788 mo.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239C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−76%  BEST</a:t>
                      </a:r>
                      <a:endParaRPr lang="en-US" sz="160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h="50800" prst="divot"/>
                      <a:lightRig rig="flood" dir="t"/>
                    </a:cell3D>
                    <a:solidFill>
                      <a:srgbClr val="239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" y="13716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0" b="1" dirty="0">
                <a:solidFill>
                  <a:srgbClr val="FFFFFF">
                    <a:alpha val="28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20000" dirty="0"/>
          </a:p>
        </p:txBody>
      </p:sp>
      <p:sp>
        <p:nvSpPr>
          <p:cNvPr id="9" name="Shape 6"/>
          <p:cNvSpPr/>
          <p:nvPr/>
        </p:nvSpPr>
        <p:spPr>
          <a:xfrm>
            <a:off x="4663440" y="2743200"/>
            <a:ext cx="6858000" cy="6400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1653988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Explainability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663440" y="2926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confirms clinically relevant bone regions drive predictions</a:t>
            </a:r>
            <a:endParaRPr lang="en-US" sz="2000" b="1" i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327648"/>
            <a:ext cx="67025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  |  Sophia Antipolis  |  Institut Mines-Télécom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Grad-CAM: What Does the Model See?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Gradient-weighted Class Activation Maps applied to EfficientNetV2-RW-S — showing anatomical focus regions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3657600" cy="2743200"/>
          </a:xfrm>
          <a:prstGeom prst="rect">
            <a:avLst/>
          </a:prstGeom>
          <a:solidFill>
            <a:srgbClr val="2C3E50"/>
          </a:solidFill>
          <a:ln w="25400">
            <a:solidFill>
              <a:srgbClr val="4DB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X-ray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grayscale → RGB</a:t>
            </a:r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48508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327648"/>
            <a:ext cx="67025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  |  Sophia Antipolis  |  Institut Mines-Télécom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Grad-CAM: What Does the Model See?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Gradient-weighted Class Activation Maps applied to EfficientNetV2-RW-S — showing anatomical focus regions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3657600" cy="2743200"/>
          </a:xfrm>
          <a:prstGeom prst="rect">
            <a:avLst/>
          </a:prstGeom>
          <a:solidFill>
            <a:srgbClr val="2C3E50"/>
          </a:solidFill>
          <a:ln w="25400">
            <a:solidFill>
              <a:srgbClr val="4DB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X-ray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grayscale → RGB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79392" y="1572768"/>
            <a:ext cx="365760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239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9392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Heatmap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79392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Activation intensity overlay</a:t>
            </a:r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48508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49800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327648"/>
            <a:ext cx="67025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  |  Sophia Antipolis  |  Institut Mines-Télécom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Grad-CAM: What Does the Model See?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Gradient-weighted Class Activation Maps applied to EfficientNetV2-RW-S — showing anatomical focus regions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3657600" cy="2743200"/>
          </a:xfrm>
          <a:prstGeom prst="rect">
            <a:avLst/>
          </a:prstGeom>
          <a:solidFill>
            <a:srgbClr val="2C3E50"/>
          </a:solidFill>
          <a:ln w="25400">
            <a:solidFill>
              <a:srgbClr val="4DB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X-ray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grayscale → RGB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79392" y="1572768"/>
            <a:ext cx="365760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239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9392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Heatmap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79392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Activation intensity overlay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193024" y="1572768"/>
            <a:ext cx="3657600" cy="2743200"/>
          </a:xfrm>
          <a:prstGeom prst="rect">
            <a:avLst/>
          </a:prstGeom>
          <a:solidFill>
            <a:srgbClr val="1D3557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Overlay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93024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Heatmap fused on X-ray</a:t>
            </a:r>
            <a:endParaRPr lang="en-US" sz="1200" dirty="0">
              <a:solidFill>
                <a:srgbClr val="00206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48508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49800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826636" y="1582293"/>
            <a:ext cx="2657475" cy="2676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327648"/>
            <a:ext cx="67025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  |  Sophia Antipolis  |  Institut Mines-Télécom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Grad-CAM: What Does the Model See?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Gradient-weighted Class Activation Maps applied to EfficientNetV2-RW-S — showing anatomical focus regions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3657600" cy="2743200"/>
          </a:xfrm>
          <a:prstGeom prst="rect">
            <a:avLst/>
          </a:prstGeom>
          <a:solidFill>
            <a:srgbClr val="2C3E50"/>
          </a:solidFill>
          <a:ln w="25400">
            <a:solidFill>
              <a:srgbClr val="4DB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X-ray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 grayscale → RGB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79392" y="1572768"/>
            <a:ext cx="3657600" cy="2743200"/>
          </a:xfrm>
          <a:prstGeom prst="rect">
            <a:avLst/>
          </a:prstGeom>
          <a:solidFill>
            <a:srgbClr val="1A1A2E"/>
          </a:solidFill>
          <a:ln w="25400">
            <a:solidFill>
              <a:srgbClr val="239CD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79392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Heatmap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79392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Activation intensity overlay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193024" y="1572768"/>
            <a:ext cx="3657600" cy="2743200"/>
          </a:xfrm>
          <a:prstGeom prst="rect">
            <a:avLst/>
          </a:prstGeom>
          <a:solidFill>
            <a:srgbClr val="1D3557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93024" y="4343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Overlay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93024" y="4736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Heatmap fused on X-ray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65760" y="5166360"/>
            <a:ext cx="3657600" cy="1353312"/>
          </a:xfrm>
          <a:prstGeom prst="rect">
            <a:avLst/>
          </a:prstGeom>
          <a:solidFill>
            <a:srgbClr val="F0F8FC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52303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Carpal Bones </a:t>
            </a:r>
            <a:r>
              <a:rPr lang="en-US" sz="1400" i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(Highest Activation)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" y="565099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plate patterns are the most diagnostic indicator of skeletal maturity — consistent with clinical GP atlas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79392" y="5166360"/>
            <a:ext cx="3657600" cy="1353312"/>
          </a:xfrm>
          <a:prstGeom prst="rect">
            <a:avLst/>
          </a:prstGeom>
          <a:solidFill>
            <a:srgbClr val="F0F8FC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52303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Metacarpal Bones </a:t>
            </a:r>
            <a:r>
              <a:rPr lang="en-US" sz="1400" i="1" dirty="0">
                <a:solidFill>
                  <a:srgbClr val="1B7FA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(High Activation)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389120" y="565099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Bone width and cortical density encode developmental stage — model correctly prioritises these regions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93024" y="5166360"/>
            <a:ext cx="3657600" cy="1353312"/>
          </a:xfrm>
          <a:prstGeom prst="rect">
            <a:avLst/>
          </a:prstGeom>
          <a:solidFill>
            <a:srgbClr val="F0F8FC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2752" y="523036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Phalanges </a:t>
            </a:r>
            <a:r>
              <a:rPr lang="en-US" sz="1400" i="1" dirty="0">
                <a:solidFill>
                  <a:srgbClr val="0E5C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(Medium Activation)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302752" y="5650992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Finger ossification centers precisely match the regions examined in Greulich-Pyle and TW2 clinical protocols</a:t>
            </a:r>
            <a:endParaRPr 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48508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49800" y="1572768"/>
            <a:ext cx="2686050" cy="26860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826636" y="1582293"/>
            <a:ext cx="2657475" cy="2676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Findings &amp; Takeaways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critical insights from our systematic experimental results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5596128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239CD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572768"/>
            <a:ext cx="91440" cy="2176272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709928"/>
            <a:ext cx="658368" cy="658368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98448" y="16824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Learning is Indispensable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48640" y="2322576"/>
            <a:ext cx="532180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ImageNet-pretrained models hit 7-month MAE vs. 27.8 months from scratch — a 76% improvement. Pre-trained features provide a powerful visual foundation for medical imaging.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36208" y="1572768"/>
            <a:ext cx="5596128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003E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6208" y="1572768"/>
            <a:ext cx="91440" cy="2176272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0" y="1709928"/>
            <a:ext cx="658368" cy="658368"/>
          </a:xfrm>
          <a:prstGeom prst="ellipse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68896" y="16824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Resolution Dramatically Matters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19088" y="2322576"/>
            <a:ext cx="532180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Upgrading EfficientNet-B4 from 224×224 to 384×384 cut MAE from 11.4 → 7.0 months (−40%), proving fine bone details demand high-resolution input.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65760" y="3931920"/>
            <a:ext cx="5596128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0E5C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931920"/>
            <a:ext cx="91440" cy="2176272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" y="4069080"/>
            <a:ext cx="658368" cy="658368"/>
          </a:xfrm>
          <a:prstGeom prst="ellipse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4069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98448" y="40416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Multi-Modal Input Boosts Accuracy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48640" y="4681728"/>
            <a:ext cx="532180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 embedding consistently improved every model tested. Biological sex is a clinically established determinant of skeletal maturity and cannot be ignored.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236208" y="3931920"/>
            <a:ext cx="5596128" cy="2176272"/>
          </a:xfrm>
          <a:prstGeom prst="rect">
            <a:avLst/>
          </a:prstGeom>
          <a:solidFill>
            <a:srgbClr val="FFFFFF"/>
          </a:solidFill>
          <a:ln w="25400">
            <a:solidFill>
              <a:srgbClr val="1B7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36208" y="3931920"/>
            <a:ext cx="91440" cy="2176272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4069080"/>
            <a:ext cx="658368" cy="658368"/>
          </a:xfrm>
          <a:prstGeom prst="ellipse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4069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68896" y="404164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are Clinically Valid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419088" y="4681728"/>
            <a:ext cx="532180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Grad-CAM confirms the model focuses on carpal bones, metacarpals and phalanges — exactly the regions radiologists examine in Greulich-Pyle and TW2 assessments.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144768"/>
            <a:ext cx="11887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Work &amp; Research Directions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24128"/>
            <a:ext cx="11247120" cy="4572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on our findings toward clinical deployment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5596128" cy="2011680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572768"/>
            <a:ext cx="5596128" cy="9144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1755648"/>
            <a:ext cx="621792" cy="621792"/>
          </a:xfrm>
          <a:prstGeom prst="ellipse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7556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1737360"/>
            <a:ext cx="4645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Region-Based Models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30352" y="2322576"/>
            <a:ext cx="5349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neural networks processing individual bone regions (carpals, metacarpals, phalanges) independently, then fusing outputs through learned aggregation.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36208" y="1572768"/>
            <a:ext cx="5596128" cy="2011680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6208" y="1572768"/>
            <a:ext cx="5596128" cy="91440"/>
          </a:xfrm>
          <a:prstGeom prst="rect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73368" y="1755648"/>
            <a:ext cx="621792" cy="621792"/>
          </a:xfrm>
          <a:prstGeom prst="ellipse">
            <a:avLst/>
          </a:prstGeom>
          <a:solidFill>
            <a:srgbClr val="003E7E"/>
          </a:solidFill>
          <a:ln w="12700">
            <a:solidFill>
              <a:srgbClr val="003E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75564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04888" y="1737360"/>
            <a:ext cx="4645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Semi-Supervised Learning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0" y="2322576"/>
            <a:ext cx="5349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unlabeled test-set samples via pseudo-labeling or consistency regularization — reducing dependence on expensive radiologist annotations.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65760" y="3767328"/>
            <a:ext cx="5596128" cy="2011680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767328"/>
            <a:ext cx="5596128" cy="91440"/>
          </a:xfrm>
          <a:prstGeom prst="rect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" y="3950208"/>
            <a:ext cx="621792" cy="621792"/>
          </a:xfrm>
          <a:prstGeom prst="ellipse">
            <a:avLst/>
          </a:prstGeom>
          <a:solidFill>
            <a:srgbClr val="0E5C7A"/>
          </a:solidFill>
          <a:ln w="12700">
            <a:solidFill>
              <a:srgbClr val="0E5C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9502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234440" y="3931920"/>
            <a:ext cx="4645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Explainability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30352" y="4517136"/>
            <a:ext cx="5349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Grad-CAM with attention maps and SHAP values to provide radiologist-grade decision explanations, increasing clinical trust and adoption.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236208" y="3767328"/>
            <a:ext cx="5596128" cy="2011680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36208" y="3767328"/>
            <a:ext cx="5596128" cy="9144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3950208"/>
            <a:ext cx="621792" cy="621792"/>
          </a:xfrm>
          <a:prstGeom prst="ellipse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73368" y="39502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04888" y="3931920"/>
            <a:ext cx="4645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&amp; Distillation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400800" y="4517136"/>
            <a:ext cx="53492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EfficientNetV2-RW-S + SEResNeXt101. Early tests show ensemble MAE ~6.46 months. Then distil into a lightweight model for edge deployment.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5760" y="5943600"/>
            <a:ext cx="11612880" cy="530352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5971032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"Modern deep-learning technologies hold tremendous promise for transforming medical diagnostics."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607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06240" y="0"/>
            <a:ext cx="64008" cy="6858000"/>
          </a:xfrm>
          <a:prstGeom prst="rect">
            <a:avLst/>
          </a:prstGeom>
          <a:solidFill>
            <a:srgbClr val="1B7FA3"/>
          </a:solidFill>
          <a:ln w="12700">
            <a:solidFill>
              <a:srgbClr val="1B7F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7315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04672"/>
            <a:ext cx="338328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" y="30175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EURECOM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182880" y="3611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Sophia Antipolis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 Mines-Télécom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0" y="10972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A1A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13" name="Shape 9"/>
          <p:cNvSpPr/>
          <p:nvPr/>
        </p:nvSpPr>
        <p:spPr>
          <a:xfrm>
            <a:off x="4572000" y="2926080"/>
            <a:ext cx="6858000" cy="64008"/>
          </a:xfrm>
          <a:prstGeom prst="rect">
            <a:avLst/>
          </a:prstGeom>
          <a:solidFill>
            <a:srgbClr val="239CD3"/>
          </a:solidFill>
          <a:ln w="12700">
            <a:solidFill>
              <a:srgbClr val="239CD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0" y="3063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39319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Team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572000" y="446227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600" b="1" dirty="0" err="1" smtClean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Sravan</a:t>
            </a:r>
            <a:r>
              <a:rPr lang="en-US" sz="1600" b="1" dirty="0" smtClean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Kumar </a:t>
            </a:r>
            <a:r>
              <a:rPr lang="en-US" sz="16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Challagiri</a:t>
            </a:r>
            <a:endParaRPr lang="en-US" sz="1500" b="1" dirty="0"/>
          </a:p>
        </p:txBody>
      </p:sp>
      <p:sp>
        <p:nvSpPr>
          <p:cNvPr id="17" name="Text 13"/>
          <p:cNvSpPr/>
          <p:nvPr/>
        </p:nvSpPr>
        <p:spPr>
          <a:xfrm>
            <a:off x="4572000" y="485546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Hafiz Muhammad Umer Farooq Mirza</a:t>
            </a:r>
            <a:endParaRPr lang="en-US" sz="1500" b="1" dirty="0"/>
          </a:p>
        </p:txBody>
      </p:sp>
      <p:sp>
        <p:nvSpPr>
          <p:cNvPr id="18" name="Text 14"/>
          <p:cNvSpPr/>
          <p:nvPr/>
        </p:nvSpPr>
        <p:spPr>
          <a:xfrm>
            <a:off x="4572000" y="524865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Nayoneeka Paul</a:t>
            </a:r>
            <a:endParaRPr lang="en-US" sz="1500" b="1" dirty="0"/>
          </a:p>
        </p:txBody>
      </p:sp>
      <p:sp>
        <p:nvSpPr>
          <p:cNvPr id="19" name="Text 15"/>
          <p:cNvSpPr/>
          <p:nvPr/>
        </p:nvSpPr>
        <p:spPr>
          <a:xfrm>
            <a:off x="4572000" y="56418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9CD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 </a:t>
            </a:r>
            <a:r>
              <a:rPr lang="en-US" sz="15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Adhitya Kiran Kanakaraj</a:t>
            </a:r>
            <a:endParaRPr lang="en-US" sz="1500" b="1" dirty="0"/>
          </a:p>
        </p:txBody>
      </p:sp>
      <p:sp>
        <p:nvSpPr>
          <p:cNvPr id="20" name="Shape 16"/>
          <p:cNvSpPr/>
          <p:nvPr/>
        </p:nvSpPr>
        <p:spPr>
          <a:xfrm>
            <a:off x="4572000" y="6025896"/>
            <a:ext cx="7132320" cy="384048"/>
          </a:xfrm>
          <a:prstGeom prst="rect">
            <a:avLst/>
          </a:prstGeom>
          <a:solidFill>
            <a:srgbClr val="F0F8F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0" y="602589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 ·  Medical Imaging  ·  EfficientNetV2  ·  RSNA Dataset</a:t>
            </a:r>
            <a:endParaRPr lang="en-US" sz="1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2785</Words>
  <Application>Microsoft Office PowerPoint</Application>
  <PresentationFormat>Custom</PresentationFormat>
  <Paragraphs>701</Paragraphs>
  <Slides>41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12</cp:revision>
  <dcterms:created xsi:type="dcterms:W3CDTF">2026-05-25T07:31:34Z</dcterms:created>
  <dcterms:modified xsi:type="dcterms:W3CDTF">2026-05-25T09:31:45Z</dcterms:modified>
</cp:coreProperties>
</file>